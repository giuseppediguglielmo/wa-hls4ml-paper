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5068e76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5068e76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fd140d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fd140d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068e76b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5068e76b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700663" y="1763138"/>
            <a:ext cx="1119000" cy="587100"/>
          </a:xfrm>
          <a:prstGeom prst="rect">
            <a:avLst/>
          </a:prstGeom>
          <a:solidFill>
            <a:srgbClr val="C27BA0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</a:t>
            </a:r>
            <a:br>
              <a:rPr lang="en" sz="1055"/>
            </a:br>
            <a:r>
              <a:rPr lang="en" sz="1055"/>
              <a:t>Architecture Design</a:t>
            </a:r>
            <a:endParaRPr sz="1055"/>
          </a:p>
        </p:txBody>
      </p:sp>
      <p:sp>
        <p:nvSpPr>
          <p:cNvPr id="55" name="Google Shape;55;p13"/>
          <p:cNvSpPr/>
          <p:nvPr/>
        </p:nvSpPr>
        <p:spPr>
          <a:xfrm>
            <a:off x="1700663" y="2660038"/>
            <a:ext cx="1119000" cy="587100"/>
          </a:xfrm>
          <a:prstGeom prst="rect">
            <a:avLst/>
          </a:prstGeom>
          <a:solidFill>
            <a:srgbClr val="6FA8D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56" name="Google Shape;56;p13"/>
          <p:cNvSpPr/>
          <p:nvPr/>
        </p:nvSpPr>
        <p:spPr>
          <a:xfrm>
            <a:off x="5922638" y="1265638"/>
            <a:ext cx="1119000" cy="587400"/>
          </a:xfrm>
          <a:prstGeom prst="rect">
            <a:avLst/>
          </a:prstGeom>
          <a:solidFill>
            <a:srgbClr val="C27BA0"/>
          </a:solidFill>
          <a:ln cap="flat" cmpd="sng" w="7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 </a:t>
            </a:r>
            <a:r>
              <a:rPr lang="en" sz="1055"/>
              <a:t>Architecture Design</a:t>
            </a:r>
            <a:endParaRPr sz="1055"/>
          </a:p>
        </p:txBody>
      </p:sp>
      <p:cxnSp>
        <p:nvCxnSpPr>
          <p:cNvPr id="57" name="Google Shape;57;p13"/>
          <p:cNvCxnSpPr>
            <a:stCxn id="54" idx="2"/>
            <a:endCxn id="55" idx="0"/>
          </p:cNvCxnSpPr>
          <p:nvPr/>
        </p:nvCxnSpPr>
        <p:spPr>
          <a:xfrm>
            <a:off x="2260163" y="2350238"/>
            <a:ext cx="0" cy="30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>
            <a:stCxn id="56" idx="2"/>
            <a:endCxn id="59" idx="0"/>
          </p:cNvCxnSpPr>
          <p:nvPr/>
        </p:nvCxnSpPr>
        <p:spPr>
          <a:xfrm>
            <a:off x="6482138" y="1853038"/>
            <a:ext cx="30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p13"/>
          <p:cNvCxnSpPr>
            <a:stCxn id="59" idx="1"/>
            <a:endCxn id="56" idx="1"/>
          </p:cNvCxnSpPr>
          <p:nvPr/>
        </p:nvCxnSpPr>
        <p:spPr>
          <a:xfrm flipH="1" rot="10800000">
            <a:off x="5273175" y="1559438"/>
            <a:ext cx="649500" cy="1228200"/>
          </a:xfrm>
          <a:prstGeom prst="curvedConnector3">
            <a:avLst>
              <a:gd fmla="val -6915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 txBox="1"/>
          <p:nvPr/>
        </p:nvSpPr>
        <p:spPr>
          <a:xfrm>
            <a:off x="4581050" y="1206632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Repeat </a:t>
            </a:r>
            <a:r>
              <a:rPr b="1" i="1" lang="en" sz="850">
                <a:solidFill>
                  <a:schemeClr val="dk2"/>
                </a:solidFill>
              </a:rPr>
              <a:t>N </a:t>
            </a:r>
            <a:r>
              <a:rPr b="1" lang="en" sz="850">
                <a:solidFill>
                  <a:schemeClr val="dk2"/>
                </a:solidFill>
              </a:rPr>
              <a:t>times </a:t>
            </a:r>
            <a:br>
              <a:rPr b="1" lang="en" sz="850">
                <a:solidFill>
                  <a:schemeClr val="dk2"/>
                </a:solidFill>
              </a:rPr>
            </a:br>
            <a:r>
              <a:rPr b="1" lang="en" sz="850">
                <a:solidFill>
                  <a:schemeClr val="dk2"/>
                </a:solidFill>
              </a:rPr>
              <a:t>Until constraints met</a:t>
            </a:r>
            <a:endParaRPr b="1" sz="850">
              <a:solidFill>
                <a:schemeClr val="dk2"/>
              </a:solidFill>
            </a:endParaRPr>
          </a:p>
        </p:txBody>
      </p:sp>
      <p:cxnSp>
        <p:nvCxnSpPr>
          <p:cNvPr id="62" name="Google Shape;62;p13"/>
          <p:cNvCxnSpPr/>
          <p:nvPr/>
        </p:nvCxnSpPr>
        <p:spPr>
          <a:xfrm flipH="1" rot="10800000">
            <a:off x="1700063" y="2114128"/>
            <a:ext cx="600" cy="853500"/>
          </a:xfrm>
          <a:prstGeom prst="curvedConnector3">
            <a:avLst>
              <a:gd fmla="val -597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3"/>
          <p:cNvSpPr/>
          <p:nvPr/>
        </p:nvSpPr>
        <p:spPr>
          <a:xfrm>
            <a:off x="5922638" y="3759085"/>
            <a:ext cx="1119000" cy="587100"/>
          </a:xfrm>
          <a:prstGeom prst="rect">
            <a:avLst/>
          </a:prstGeom>
          <a:solidFill>
            <a:srgbClr val="6FA8D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64" name="Google Shape;64;p13"/>
          <p:cNvSpPr txBox="1"/>
          <p:nvPr/>
        </p:nvSpPr>
        <p:spPr>
          <a:xfrm>
            <a:off x="321900" y="1733346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Repeat </a:t>
            </a:r>
            <a:r>
              <a:rPr b="1" i="1" lang="en" sz="1100">
                <a:solidFill>
                  <a:schemeClr val="dk2"/>
                </a:solidFill>
              </a:rPr>
              <a:t>N</a:t>
            </a:r>
            <a:r>
              <a:rPr b="1" lang="en" sz="1100">
                <a:solidFill>
                  <a:schemeClr val="dk2"/>
                </a:solidFill>
              </a:rPr>
              <a:t> times </a:t>
            </a:r>
            <a:br>
              <a:rPr b="1" lang="en" sz="1100">
                <a:solidFill>
                  <a:schemeClr val="dk2"/>
                </a:solidFill>
              </a:rPr>
            </a:br>
            <a:r>
              <a:rPr b="1" lang="en" sz="1100">
                <a:solidFill>
                  <a:schemeClr val="dk2"/>
                </a:solidFill>
              </a:rPr>
              <a:t>Until constraints met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017924" y="2659900"/>
            <a:ext cx="1075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100">
                <a:solidFill>
                  <a:srgbClr val="FF0000"/>
                </a:solidFill>
              </a:rPr>
              <a:t>Minutes to Hours</a:t>
            </a:r>
            <a:r>
              <a:rPr lang="en" sz="1100">
                <a:solidFill>
                  <a:srgbClr val="FF0000"/>
                </a:solidFill>
              </a:rPr>
              <a:t> long, sometimes </a:t>
            </a:r>
            <a:r>
              <a:rPr b="1" lang="en" sz="1100">
                <a:solidFill>
                  <a:srgbClr val="FF0000"/>
                </a:solidFill>
              </a:rPr>
              <a:t>fails </a:t>
            </a:r>
            <a:endParaRPr b="1" sz="1100">
              <a:solidFill>
                <a:srgbClr val="FF0000"/>
              </a:solidFill>
            </a:endParaRPr>
          </a:p>
        </p:txBody>
      </p:sp>
      <p:cxnSp>
        <p:nvCxnSpPr>
          <p:cNvPr id="66" name="Google Shape;66;p13"/>
          <p:cNvCxnSpPr>
            <a:stCxn id="59" idx="2"/>
            <a:endCxn id="63" idx="0"/>
          </p:cNvCxnSpPr>
          <p:nvPr/>
        </p:nvCxnSpPr>
        <p:spPr>
          <a:xfrm flipH="1">
            <a:off x="6482175" y="3375638"/>
            <a:ext cx="3000" cy="3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" name="Google Shape;67;p13"/>
          <p:cNvSpPr txBox="1"/>
          <p:nvPr/>
        </p:nvSpPr>
        <p:spPr>
          <a:xfrm>
            <a:off x="4581050" y="3399946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Perform once when constraints met</a:t>
            </a:r>
            <a:endParaRPr b="1" sz="850">
              <a:solidFill>
                <a:schemeClr val="dk2"/>
              </a:solidFill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851150" y="2526850"/>
            <a:ext cx="135300" cy="853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8029226" y="2493950"/>
            <a:ext cx="8256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</a:rPr>
              <a:t>Seconds </a:t>
            </a:r>
            <a:r>
              <a:rPr lang="en" sz="1100">
                <a:solidFill>
                  <a:srgbClr val="6AA84F"/>
                </a:solidFill>
              </a:rPr>
              <a:t>Long</a:t>
            </a:r>
            <a:endParaRPr sz="1100">
              <a:solidFill>
                <a:srgbClr val="6AA84F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7795550" y="2199642"/>
            <a:ext cx="135300" cy="1176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5273175" y="2199638"/>
            <a:ext cx="2424000" cy="1176000"/>
            <a:chOff x="6667500" y="45975"/>
            <a:chExt cx="2424000" cy="1176000"/>
          </a:xfrm>
        </p:grpSpPr>
        <p:sp>
          <p:nvSpPr>
            <p:cNvPr id="59" name="Google Shape;59;p13"/>
            <p:cNvSpPr/>
            <p:nvPr/>
          </p:nvSpPr>
          <p:spPr>
            <a:xfrm>
              <a:off x="6667500" y="45975"/>
              <a:ext cx="2424000" cy="11760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Surrogate Model</a:t>
              </a:r>
              <a:endParaRPr sz="800"/>
            </a:p>
          </p:txBody>
        </p:sp>
        <p:grpSp>
          <p:nvGrpSpPr>
            <p:cNvPr id="72" name="Google Shape;72;p13"/>
            <p:cNvGrpSpPr/>
            <p:nvPr/>
          </p:nvGrpSpPr>
          <p:grpSpPr>
            <a:xfrm>
              <a:off x="6844150" y="394020"/>
              <a:ext cx="2070676" cy="788292"/>
              <a:chOff x="6844150" y="361175"/>
              <a:chExt cx="2070676" cy="788292"/>
            </a:xfrm>
          </p:grpSpPr>
          <p:sp>
            <p:nvSpPr>
              <p:cNvPr id="73" name="Google Shape;73;p13"/>
              <p:cNvSpPr/>
              <p:nvPr/>
            </p:nvSpPr>
            <p:spPr>
              <a:xfrm>
                <a:off x="6844150" y="390825"/>
                <a:ext cx="901500" cy="729000"/>
              </a:xfrm>
              <a:prstGeom prst="can">
                <a:avLst>
                  <a:gd fmla="val 25000" name="adj"/>
                </a:avLst>
              </a:prstGeom>
              <a:solidFill>
                <a:srgbClr val="A4C2F4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Synthesized Neural Network Dataset</a:t>
                </a:r>
                <a:endParaRPr sz="800"/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8013350" y="361175"/>
                <a:ext cx="901476" cy="788292"/>
              </a:xfrm>
              <a:prstGeom prst="flowChartMultidocument">
                <a:avLst/>
              </a:prstGeom>
              <a:solidFill>
                <a:srgbClr val="A2C4C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/>
                  <a:t>GNN or Transformer </a:t>
                </a:r>
                <a:endParaRPr sz="700"/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7811850" y="679725"/>
                <a:ext cx="135300" cy="151200"/>
              </a:xfrm>
              <a:prstGeom prst="mathPlus">
                <a:avLst>
                  <a:gd fmla="val 23520" name="adj1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6" name="Google Shape;76;p13"/>
          <p:cNvSpPr txBox="1"/>
          <p:nvPr/>
        </p:nvSpPr>
        <p:spPr>
          <a:xfrm>
            <a:off x="662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Traditional Codesign Workflow</a:t>
            </a:r>
            <a:endParaRPr b="1" sz="1490" u="sng">
              <a:solidFill>
                <a:schemeClr val="dk2"/>
              </a:solidFill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884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Proposed Codesign Workflow</a:t>
            </a:r>
            <a:endParaRPr b="1" sz="149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1700663" y="1763138"/>
            <a:ext cx="1119000" cy="587100"/>
          </a:xfrm>
          <a:prstGeom prst="rect">
            <a:avLst/>
          </a:prstGeom>
          <a:solidFill>
            <a:srgbClr val="C27BA0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</a:t>
            </a:r>
            <a:br>
              <a:rPr lang="en" sz="1055"/>
            </a:br>
            <a:r>
              <a:rPr lang="en" sz="1055"/>
              <a:t>Architecture Design</a:t>
            </a:r>
            <a:endParaRPr sz="1055"/>
          </a:p>
        </p:txBody>
      </p:sp>
      <p:sp>
        <p:nvSpPr>
          <p:cNvPr id="83" name="Google Shape;83;p14"/>
          <p:cNvSpPr/>
          <p:nvPr/>
        </p:nvSpPr>
        <p:spPr>
          <a:xfrm>
            <a:off x="1700663" y="2660038"/>
            <a:ext cx="1119000" cy="587100"/>
          </a:xfrm>
          <a:prstGeom prst="rect">
            <a:avLst/>
          </a:prstGeom>
          <a:solidFill>
            <a:srgbClr val="6FA8D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84" name="Google Shape;84;p14"/>
          <p:cNvSpPr/>
          <p:nvPr/>
        </p:nvSpPr>
        <p:spPr>
          <a:xfrm>
            <a:off x="5922638" y="1265638"/>
            <a:ext cx="1119000" cy="587400"/>
          </a:xfrm>
          <a:prstGeom prst="rect">
            <a:avLst/>
          </a:prstGeom>
          <a:solidFill>
            <a:srgbClr val="C27BA0"/>
          </a:solidFill>
          <a:ln cap="flat" cmpd="sng" w="7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 Architecture Design</a:t>
            </a:r>
            <a:endParaRPr sz="1055"/>
          </a:p>
        </p:txBody>
      </p:sp>
      <p:cxnSp>
        <p:nvCxnSpPr>
          <p:cNvPr id="85" name="Google Shape;85;p14"/>
          <p:cNvCxnSpPr>
            <a:stCxn id="82" idx="2"/>
            <a:endCxn id="83" idx="0"/>
          </p:cNvCxnSpPr>
          <p:nvPr/>
        </p:nvCxnSpPr>
        <p:spPr>
          <a:xfrm>
            <a:off x="2260163" y="2350238"/>
            <a:ext cx="0" cy="30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4"/>
          <p:cNvCxnSpPr>
            <a:stCxn id="84" idx="2"/>
            <a:endCxn id="87" idx="0"/>
          </p:cNvCxnSpPr>
          <p:nvPr/>
        </p:nvCxnSpPr>
        <p:spPr>
          <a:xfrm>
            <a:off x="6482138" y="1853038"/>
            <a:ext cx="30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>
            <a:stCxn id="87" idx="1"/>
            <a:endCxn id="84" idx="1"/>
          </p:cNvCxnSpPr>
          <p:nvPr/>
        </p:nvCxnSpPr>
        <p:spPr>
          <a:xfrm flipH="1" rot="10800000">
            <a:off x="5273175" y="1559438"/>
            <a:ext cx="649500" cy="1228200"/>
          </a:xfrm>
          <a:prstGeom prst="curvedConnector3">
            <a:avLst>
              <a:gd fmla="val -6915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" name="Google Shape;89;p14"/>
          <p:cNvSpPr txBox="1"/>
          <p:nvPr/>
        </p:nvSpPr>
        <p:spPr>
          <a:xfrm>
            <a:off x="4581050" y="1206632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Repeat </a:t>
            </a:r>
            <a:r>
              <a:rPr b="1" i="1" lang="en" sz="850">
                <a:solidFill>
                  <a:schemeClr val="dk2"/>
                </a:solidFill>
              </a:rPr>
              <a:t>N </a:t>
            </a:r>
            <a:r>
              <a:rPr b="1" lang="en" sz="850">
                <a:solidFill>
                  <a:schemeClr val="dk2"/>
                </a:solidFill>
              </a:rPr>
              <a:t>times </a:t>
            </a:r>
            <a:br>
              <a:rPr b="1" lang="en" sz="850">
                <a:solidFill>
                  <a:schemeClr val="dk2"/>
                </a:solidFill>
              </a:rPr>
            </a:br>
            <a:r>
              <a:rPr b="1" lang="en" sz="850">
                <a:solidFill>
                  <a:schemeClr val="dk2"/>
                </a:solidFill>
              </a:rPr>
              <a:t>Until constraints met</a:t>
            </a:r>
            <a:endParaRPr b="1" sz="850">
              <a:solidFill>
                <a:schemeClr val="dk2"/>
              </a:solidFill>
            </a:endParaRPr>
          </a:p>
        </p:txBody>
      </p:sp>
      <p:cxnSp>
        <p:nvCxnSpPr>
          <p:cNvPr id="90" name="Google Shape;90;p14"/>
          <p:cNvCxnSpPr/>
          <p:nvPr/>
        </p:nvCxnSpPr>
        <p:spPr>
          <a:xfrm flipH="1" rot="10800000">
            <a:off x="1700063" y="2114128"/>
            <a:ext cx="600" cy="853500"/>
          </a:xfrm>
          <a:prstGeom prst="curvedConnector3">
            <a:avLst>
              <a:gd fmla="val -597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4"/>
          <p:cNvSpPr/>
          <p:nvPr/>
        </p:nvSpPr>
        <p:spPr>
          <a:xfrm>
            <a:off x="5922638" y="3759085"/>
            <a:ext cx="1119000" cy="587100"/>
          </a:xfrm>
          <a:prstGeom prst="rect">
            <a:avLst/>
          </a:prstGeom>
          <a:solidFill>
            <a:srgbClr val="6FA8D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92" name="Google Shape;92;p14"/>
          <p:cNvSpPr txBox="1"/>
          <p:nvPr/>
        </p:nvSpPr>
        <p:spPr>
          <a:xfrm>
            <a:off x="321900" y="1733346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Repeat </a:t>
            </a:r>
            <a:r>
              <a:rPr b="1" i="1" lang="en" sz="1100">
                <a:solidFill>
                  <a:schemeClr val="dk2"/>
                </a:solidFill>
              </a:rPr>
              <a:t>N</a:t>
            </a:r>
            <a:r>
              <a:rPr b="1" lang="en" sz="1100">
                <a:solidFill>
                  <a:schemeClr val="dk2"/>
                </a:solidFill>
              </a:rPr>
              <a:t> times </a:t>
            </a:r>
            <a:br>
              <a:rPr b="1" lang="en" sz="1100">
                <a:solidFill>
                  <a:schemeClr val="dk2"/>
                </a:solidFill>
              </a:rPr>
            </a:br>
            <a:r>
              <a:rPr b="1" lang="en" sz="1100">
                <a:solidFill>
                  <a:schemeClr val="dk2"/>
                </a:solidFill>
              </a:rPr>
              <a:t>Until constraints met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17924" y="2659900"/>
            <a:ext cx="1075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100">
                <a:solidFill>
                  <a:srgbClr val="FF0000"/>
                </a:solidFill>
              </a:rPr>
              <a:t>Minutes to Hours</a:t>
            </a:r>
            <a:r>
              <a:rPr lang="en" sz="1100">
                <a:solidFill>
                  <a:srgbClr val="FF0000"/>
                </a:solidFill>
              </a:rPr>
              <a:t> long, sometimes </a:t>
            </a:r>
            <a:r>
              <a:rPr b="1" lang="en" sz="1100">
                <a:solidFill>
                  <a:srgbClr val="FF0000"/>
                </a:solidFill>
              </a:rPr>
              <a:t>fails </a:t>
            </a:r>
            <a:endParaRPr b="1" sz="1100">
              <a:solidFill>
                <a:srgbClr val="FF0000"/>
              </a:solidFill>
            </a:endParaRPr>
          </a:p>
        </p:txBody>
      </p:sp>
      <p:cxnSp>
        <p:nvCxnSpPr>
          <p:cNvPr id="94" name="Google Shape;94;p14"/>
          <p:cNvCxnSpPr>
            <a:stCxn id="87" idx="2"/>
            <a:endCxn id="91" idx="0"/>
          </p:cNvCxnSpPr>
          <p:nvPr/>
        </p:nvCxnSpPr>
        <p:spPr>
          <a:xfrm flipH="1">
            <a:off x="6482175" y="3375638"/>
            <a:ext cx="3000" cy="3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4"/>
          <p:cNvSpPr txBox="1"/>
          <p:nvPr/>
        </p:nvSpPr>
        <p:spPr>
          <a:xfrm>
            <a:off x="4581050" y="3399946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Perform once when constraints met</a:t>
            </a:r>
            <a:endParaRPr b="1" sz="850">
              <a:solidFill>
                <a:schemeClr val="dk2"/>
              </a:solidFill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2851150" y="2526850"/>
            <a:ext cx="135300" cy="853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029226" y="2493950"/>
            <a:ext cx="8256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</a:rPr>
              <a:t>Seconds </a:t>
            </a:r>
            <a:r>
              <a:rPr lang="en" sz="1100">
                <a:solidFill>
                  <a:srgbClr val="6AA84F"/>
                </a:solidFill>
              </a:rPr>
              <a:t>Long</a:t>
            </a:r>
            <a:endParaRPr sz="1100">
              <a:solidFill>
                <a:srgbClr val="6AA84F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795550" y="2199642"/>
            <a:ext cx="135300" cy="1176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5273175" y="2199638"/>
            <a:ext cx="2424000" cy="1176000"/>
            <a:chOff x="6667500" y="45975"/>
            <a:chExt cx="2424000" cy="1176000"/>
          </a:xfrm>
        </p:grpSpPr>
        <p:sp>
          <p:nvSpPr>
            <p:cNvPr id="87" name="Google Shape;87;p14"/>
            <p:cNvSpPr/>
            <p:nvPr/>
          </p:nvSpPr>
          <p:spPr>
            <a:xfrm>
              <a:off x="6667500" y="45975"/>
              <a:ext cx="2424000" cy="11760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Surrogate Model</a:t>
              </a:r>
              <a:endParaRPr sz="800"/>
            </a:p>
          </p:txBody>
        </p:sp>
        <p:grpSp>
          <p:nvGrpSpPr>
            <p:cNvPr id="100" name="Google Shape;100;p14"/>
            <p:cNvGrpSpPr/>
            <p:nvPr/>
          </p:nvGrpSpPr>
          <p:grpSpPr>
            <a:xfrm>
              <a:off x="6844150" y="394020"/>
              <a:ext cx="2070676" cy="788292"/>
              <a:chOff x="6844150" y="361175"/>
              <a:chExt cx="2070676" cy="788292"/>
            </a:xfrm>
          </p:grpSpPr>
          <p:sp>
            <p:nvSpPr>
              <p:cNvPr id="101" name="Google Shape;101;p14"/>
              <p:cNvSpPr/>
              <p:nvPr/>
            </p:nvSpPr>
            <p:spPr>
              <a:xfrm>
                <a:off x="6844150" y="390825"/>
                <a:ext cx="901500" cy="729000"/>
              </a:xfrm>
              <a:prstGeom prst="can">
                <a:avLst>
                  <a:gd fmla="val 25000" name="adj"/>
                </a:avLst>
              </a:prstGeom>
              <a:solidFill>
                <a:srgbClr val="A4C2F4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Synthesized Neural Network Dataset</a:t>
                </a:r>
                <a:endParaRPr sz="800"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8013350" y="361175"/>
                <a:ext cx="901476" cy="788292"/>
              </a:xfrm>
              <a:prstGeom prst="flowChartMultidocument">
                <a:avLst/>
              </a:prstGeom>
              <a:solidFill>
                <a:srgbClr val="A2C4C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/>
                  <a:t>GNN or Transformer </a:t>
                </a:r>
                <a:endParaRPr sz="700"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7811850" y="679725"/>
                <a:ext cx="135300" cy="151200"/>
              </a:xfrm>
              <a:prstGeom prst="mathPlus">
                <a:avLst>
                  <a:gd fmla="val 23520" name="adj1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4" name="Google Shape;104;p14"/>
          <p:cNvSpPr txBox="1"/>
          <p:nvPr/>
        </p:nvSpPr>
        <p:spPr>
          <a:xfrm>
            <a:off x="662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Traditional Codesign Workflow</a:t>
            </a:r>
            <a:br>
              <a:rPr b="1" lang="en" sz="1490" u="sng">
                <a:solidFill>
                  <a:schemeClr val="dk2"/>
                </a:solidFill>
              </a:rPr>
            </a:br>
            <a:r>
              <a:rPr b="1" lang="en" sz="1490" u="sng">
                <a:solidFill>
                  <a:srgbClr val="FF0000"/>
                </a:solidFill>
              </a:rPr>
              <a:t>(Days to Weeks Long)</a:t>
            </a:r>
            <a:endParaRPr b="1" sz="1490" u="sng">
              <a:solidFill>
                <a:srgbClr val="FF0000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884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Proposed Codesign Workflow</a:t>
            </a:r>
            <a:br>
              <a:rPr b="1" lang="en" sz="1490" u="sng">
                <a:solidFill>
                  <a:schemeClr val="dk2"/>
                </a:solidFill>
              </a:rPr>
            </a:br>
            <a:r>
              <a:rPr b="1" lang="en" sz="1490" u="sng">
                <a:solidFill>
                  <a:srgbClr val="6AA84F"/>
                </a:solidFill>
              </a:rPr>
              <a:t>(Minutes to Hours long)</a:t>
            </a:r>
            <a:endParaRPr b="1" sz="1490" u="sng">
              <a:solidFill>
                <a:srgbClr val="6AA84F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014124" y="1763000"/>
            <a:ext cx="1075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100">
                <a:solidFill>
                  <a:srgbClr val="FF0000"/>
                </a:solidFill>
              </a:rPr>
              <a:t>Highly Manual,</a:t>
            </a:r>
            <a:r>
              <a:rPr lang="en" sz="1100">
                <a:solidFill>
                  <a:srgbClr val="FF0000"/>
                </a:solidFill>
              </a:rPr>
              <a:t> </a:t>
            </a:r>
            <a:r>
              <a:rPr b="1" lang="en" sz="1100">
                <a:solidFill>
                  <a:srgbClr val="FF0000"/>
                </a:solidFill>
              </a:rPr>
              <a:t>Hours to Days </a:t>
            </a:r>
            <a:r>
              <a:rPr lang="en" sz="1100">
                <a:solidFill>
                  <a:srgbClr val="FF0000"/>
                </a:solidFill>
              </a:rPr>
              <a:t>long</a:t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847350" y="1629950"/>
            <a:ext cx="135300" cy="853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044625" y="1132600"/>
            <a:ext cx="135300" cy="853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254199" y="1265650"/>
            <a:ext cx="1187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</a:rPr>
              <a:t>Automated Parallel Trials &amp; Optimization</a:t>
            </a:r>
            <a:endParaRPr sz="11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1765863" y="1232588"/>
            <a:ext cx="1119000" cy="587100"/>
          </a:xfrm>
          <a:prstGeom prst="rect">
            <a:avLst/>
          </a:prstGeom>
          <a:solidFill>
            <a:srgbClr val="C27BA0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</a:t>
            </a:r>
            <a:br>
              <a:rPr lang="en" sz="1055"/>
            </a:br>
            <a:r>
              <a:rPr lang="en" sz="1055"/>
              <a:t>Architecture Design</a:t>
            </a:r>
            <a:endParaRPr sz="1055"/>
          </a:p>
        </p:txBody>
      </p:sp>
      <p:sp>
        <p:nvSpPr>
          <p:cNvPr id="115" name="Google Shape;115;p15"/>
          <p:cNvSpPr/>
          <p:nvPr/>
        </p:nvSpPr>
        <p:spPr>
          <a:xfrm>
            <a:off x="1765863" y="2129489"/>
            <a:ext cx="1119000" cy="587100"/>
          </a:xfrm>
          <a:prstGeom prst="rect">
            <a:avLst/>
          </a:prstGeom>
          <a:solidFill>
            <a:srgbClr val="6D9EEB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116" name="Google Shape;116;p15"/>
          <p:cNvSpPr/>
          <p:nvPr/>
        </p:nvSpPr>
        <p:spPr>
          <a:xfrm>
            <a:off x="5922638" y="1265638"/>
            <a:ext cx="1119000" cy="587400"/>
          </a:xfrm>
          <a:prstGeom prst="rect">
            <a:avLst/>
          </a:prstGeom>
          <a:solidFill>
            <a:srgbClr val="C27BA0"/>
          </a:solidFill>
          <a:ln cap="flat" cmpd="sng" w="7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Neural Network Architecture Design</a:t>
            </a:r>
            <a:endParaRPr sz="1055"/>
          </a:p>
        </p:txBody>
      </p:sp>
      <p:cxnSp>
        <p:nvCxnSpPr>
          <p:cNvPr id="117" name="Google Shape;117;p15"/>
          <p:cNvCxnSpPr>
            <a:stCxn id="114" idx="2"/>
            <a:endCxn id="115" idx="0"/>
          </p:cNvCxnSpPr>
          <p:nvPr/>
        </p:nvCxnSpPr>
        <p:spPr>
          <a:xfrm>
            <a:off x="2325363" y="1819688"/>
            <a:ext cx="0" cy="30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5"/>
          <p:cNvCxnSpPr>
            <a:stCxn id="116" idx="2"/>
            <a:endCxn id="119" idx="0"/>
          </p:cNvCxnSpPr>
          <p:nvPr/>
        </p:nvCxnSpPr>
        <p:spPr>
          <a:xfrm>
            <a:off x="6482138" y="1853038"/>
            <a:ext cx="3000" cy="34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5"/>
          <p:cNvCxnSpPr>
            <a:stCxn id="119" idx="1"/>
            <a:endCxn id="116" idx="1"/>
          </p:cNvCxnSpPr>
          <p:nvPr/>
        </p:nvCxnSpPr>
        <p:spPr>
          <a:xfrm flipH="1" rot="10800000">
            <a:off x="5273175" y="1559438"/>
            <a:ext cx="649500" cy="1228200"/>
          </a:xfrm>
          <a:prstGeom prst="curvedConnector3">
            <a:avLst>
              <a:gd fmla="val -6915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15"/>
          <p:cNvSpPr txBox="1"/>
          <p:nvPr/>
        </p:nvSpPr>
        <p:spPr>
          <a:xfrm>
            <a:off x="4581050" y="1206632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Repeat </a:t>
            </a:r>
            <a:r>
              <a:rPr b="1" i="1" lang="en" sz="850">
                <a:solidFill>
                  <a:schemeClr val="dk2"/>
                </a:solidFill>
              </a:rPr>
              <a:t>N </a:t>
            </a:r>
            <a:r>
              <a:rPr b="1" lang="en" sz="850">
                <a:solidFill>
                  <a:schemeClr val="dk2"/>
                </a:solidFill>
              </a:rPr>
              <a:t>times </a:t>
            </a:r>
            <a:br>
              <a:rPr b="1" lang="en" sz="850">
                <a:solidFill>
                  <a:schemeClr val="dk2"/>
                </a:solidFill>
              </a:rPr>
            </a:br>
            <a:r>
              <a:rPr b="1" lang="en" sz="850">
                <a:solidFill>
                  <a:schemeClr val="dk2"/>
                </a:solidFill>
              </a:rPr>
              <a:t>Until constraints met</a:t>
            </a:r>
            <a:endParaRPr b="1" sz="850">
              <a:solidFill>
                <a:schemeClr val="dk2"/>
              </a:solidFill>
            </a:endParaRPr>
          </a:p>
        </p:txBody>
      </p:sp>
      <p:cxnSp>
        <p:nvCxnSpPr>
          <p:cNvPr id="122" name="Google Shape;122;p15"/>
          <p:cNvCxnSpPr/>
          <p:nvPr/>
        </p:nvCxnSpPr>
        <p:spPr>
          <a:xfrm flipH="1" rot="10800000">
            <a:off x="1765263" y="1583579"/>
            <a:ext cx="600" cy="853500"/>
          </a:xfrm>
          <a:prstGeom prst="curvedConnector3">
            <a:avLst>
              <a:gd fmla="val -597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5"/>
          <p:cNvSpPr/>
          <p:nvPr/>
        </p:nvSpPr>
        <p:spPr>
          <a:xfrm>
            <a:off x="5922638" y="3759085"/>
            <a:ext cx="1119000" cy="587100"/>
          </a:xfrm>
          <a:prstGeom prst="rect">
            <a:avLst/>
          </a:prstGeom>
          <a:solidFill>
            <a:srgbClr val="6D9EEB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925" lIns="68925" spcFirstLastPara="1" rIns="68925" wrap="square" tIns="6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5"/>
              <a:t>Hardware Synthesis &amp; Implementation</a:t>
            </a:r>
            <a:endParaRPr sz="1055"/>
          </a:p>
        </p:txBody>
      </p:sp>
      <p:sp>
        <p:nvSpPr>
          <p:cNvPr id="124" name="Google Shape;124;p15"/>
          <p:cNvSpPr txBox="1"/>
          <p:nvPr/>
        </p:nvSpPr>
        <p:spPr>
          <a:xfrm>
            <a:off x="387100" y="1202797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Repeat </a:t>
            </a:r>
            <a:r>
              <a:rPr b="1" i="1" lang="en" sz="1100">
                <a:solidFill>
                  <a:schemeClr val="dk2"/>
                </a:solidFill>
              </a:rPr>
              <a:t>N</a:t>
            </a:r>
            <a:r>
              <a:rPr b="1" lang="en" sz="1100">
                <a:solidFill>
                  <a:schemeClr val="dk2"/>
                </a:solidFill>
              </a:rPr>
              <a:t> times </a:t>
            </a:r>
            <a:br>
              <a:rPr b="1" lang="en" sz="1100">
                <a:solidFill>
                  <a:schemeClr val="dk2"/>
                </a:solidFill>
              </a:rPr>
            </a:br>
            <a:r>
              <a:rPr b="1" lang="en" sz="1100">
                <a:solidFill>
                  <a:schemeClr val="dk2"/>
                </a:solidFill>
              </a:rPr>
              <a:t>Until constraints met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113788" y="2129338"/>
            <a:ext cx="744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</a:rPr>
              <a:t>Minutes to Hours</a:t>
            </a:r>
            <a:r>
              <a:rPr lang="en" sz="1100">
                <a:solidFill>
                  <a:srgbClr val="FF0000"/>
                </a:solidFill>
              </a:rPr>
              <a:t> long, sometimes </a:t>
            </a:r>
            <a:r>
              <a:rPr b="1" lang="en" sz="1100">
                <a:solidFill>
                  <a:srgbClr val="FF0000"/>
                </a:solidFill>
              </a:rPr>
              <a:t>fails </a:t>
            </a:r>
            <a:endParaRPr b="1" sz="1100">
              <a:solidFill>
                <a:srgbClr val="FF0000"/>
              </a:solidFill>
            </a:endParaRPr>
          </a:p>
        </p:txBody>
      </p:sp>
      <p:cxnSp>
        <p:nvCxnSpPr>
          <p:cNvPr id="126" name="Google Shape;126;p15"/>
          <p:cNvCxnSpPr>
            <a:stCxn id="119" idx="2"/>
            <a:endCxn id="123" idx="0"/>
          </p:cNvCxnSpPr>
          <p:nvPr/>
        </p:nvCxnSpPr>
        <p:spPr>
          <a:xfrm flipH="1">
            <a:off x="6482175" y="3375638"/>
            <a:ext cx="3000" cy="3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5"/>
          <p:cNvSpPr txBox="1"/>
          <p:nvPr/>
        </p:nvSpPr>
        <p:spPr>
          <a:xfrm>
            <a:off x="4581050" y="3399946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chemeClr val="dk2"/>
                </a:solidFill>
              </a:rPr>
              <a:t>Perform once when constraints met</a:t>
            </a:r>
            <a:endParaRPr b="1" sz="850">
              <a:solidFill>
                <a:schemeClr val="dk2"/>
              </a:solidFill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916350" y="1996301"/>
            <a:ext cx="135300" cy="8535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029226" y="2493950"/>
            <a:ext cx="8256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AA84F"/>
                </a:solidFill>
              </a:rPr>
              <a:t>Seconds </a:t>
            </a:r>
            <a:r>
              <a:rPr lang="en" sz="1100">
                <a:solidFill>
                  <a:srgbClr val="6AA84F"/>
                </a:solidFill>
              </a:rPr>
              <a:t>Long</a:t>
            </a:r>
            <a:endParaRPr sz="1100">
              <a:solidFill>
                <a:srgbClr val="6AA84F"/>
              </a:solidFill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7795550" y="2199642"/>
            <a:ext cx="135300" cy="1176000"/>
          </a:xfrm>
          <a:prstGeom prst="rightBracket">
            <a:avLst>
              <a:gd fmla="val 8333" name="adj"/>
            </a:avLst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AA84F"/>
              </a:solidFill>
            </a:endParaRPr>
          </a:p>
        </p:txBody>
      </p:sp>
      <p:grpSp>
        <p:nvGrpSpPr>
          <p:cNvPr id="131" name="Google Shape;131;p15"/>
          <p:cNvGrpSpPr/>
          <p:nvPr/>
        </p:nvGrpSpPr>
        <p:grpSpPr>
          <a:xfrm>
            <a:off x="5273175" y="2199638"/>
            <a:ext cx="2424000" cy="1176000"/>
            <a:chOff x="6667500" y="45975"/>
            <a:chExt cx="2424000" cy="1176000"/>
          </a:xfrm>
        </p:grpSpPr>
        <p:sp>
          <p:nvSpPr>
            <p:cNvPr id="119" name="Google Shape;119;p15"/>
            <p:cNvSpPr/>
            <p:nvPr/>
          </p:nvSpPr>
          <p:spPr>
            <a:xfrm>
              <a:off x="6667500" y="45975"/>
              <a:ext cx="2424000" cy="1176000"/>
            </a:xfrm>
            <a:prstGeom prst="roundRect">
              <a:avLst>
                <a:gd fmla="val 16667" name="adj"/>
              </a:avLst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/>
                <a:t>Surrogate Model</a:t>
              </a:r>
              <a:endParaRPr sz="800"/>
            </a:p>
          </p:txBody>
        </p:sp>
        <p:grpSp>
          <p:nvGrpSpPr>
            <p:cNvPr id="132" name="Google Shape;132;p15"/>
            <p:cNvGrpSpPr/>
            <p:nvPr/>
          </p:nvGrpSpPr>
          <p:grpSpPr>
            <a:xfrm>
              <a:off x="6844150" y="394020"/>
              <a:ext cx="2070676" cy="788292"/>
              <a:chOff x="6844150" y="361175"/>
              <a:chExt cx="2070676" cy="788292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6844150" y="390825"/>
                <a:ext cx="901500" cy="729000"/>
              </a:xfrm>
              <a:prstGeom prst="can">
                <a:avLst>
                  <a:gd fmla="val 25000" name="adj"/>
                </a:avLst>
              </a:prstGeom>
              <a:solidFill>
                <a:srgbClr val="A4C2F4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Synthesized Neural Network Dataset</a:t>
                </a:r>
                <a:endParaRPr sz="800"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8013350" y="361175"/>
                <a:ext cx="901476" cy="788292"/>
              </a:xfrm>
              <a:prstGeom prst="flowChartMultidocument">
                <a:avLst/>
              </a:prstGeom>
              <a:solidFill>
                <a:srgbClr val="A2C4C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/>
                  <a:t>GNN, MLP, or Transformer </a:t>
                </a:r>
                <a:endParaRPr sz="700"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7811850" y="679725"/>
                <a:ext cx="135300" cy="151200"/>
              </a:xfrm>
              <a:prstGeom prst="mathPlus">
                <a:avLst>
                  <a:gd fmla="val 23520" name="adj1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6" name="Google Shape;136;p15"/>
          <p:cNvSpPr txBox="1"/>
          <p:nvPr/>
        </p:nvSpPr>
        <p:spPr>
          <a:xfrm>
            <a:off x="662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Traditional Codesign Workflow</a:t>
            </a:r>
            <a:endParaRPr b="1" sz="1490" u="sng">
              <a:solidFill>
                <a:schemeClr val="dk2"/>
              </a:solidFill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4884500" y="308725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Proposed Codesign Workflow</a:t>
            </a:r>
            <a:endParaRPr b="1" sz="1490" u="sng">
              <a:solidFill>
                <a:schemeClr val="dk2"/>
              </a:solidFill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716038" y="3861882"/>
            <a:ext cx="901500" cy="729000"/>
          </a:xfrm>
          <a:prstGeom prst="can">
            <a:avLst>
              <a:gd fmla="val 25000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Synthesized Neural Network Dataset</a:t>
            </a:r>
            <a:endParaRPr sz="800"/>
          </a:p>
        </p:txBody>
      </p:sp>
      <p:grpSp>
        <p:nvGrpSpPr>
          <p:cNvPr id="139" name="Google Shape;139;p15"/>
          <p:cNvGrpSpPr/>
          <p:nvPr/>
        </p:nvGrpSpPr>
        <p:grpSpPr>
          <a:xfrm>
            <a:off x="918375" y="3397763"/>
            <a:ext cx="1282625" cy="673700"/>
            <a:chOff x="256313" y="3375638"/>
            <a:chExt cx="1282625" cy="673700"/>
          </a:xfrm>
        </p:grpSpPr>
        <p:sp>
          <p:nvSpPr>
            <p:cNvPr id="140" name="Google Shape;140;p15"/>
            <p:cNvSpPr/>
            <p:nvPr/>
          </p:nvSpPr>
          <p:spPr>
            <a:xfrm>
              <a:off x="419938" y="3375638"/>
              <a:ext cx="1119000" cy="587100"/>
            </a:xfrm>
            <a:prstGeom prst="rect">
              <a:avLst/>
            </a:prstGeom>
            <a:solidFill>
              <a:srgbClr val="C27BA0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5"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345813" y="3420238"/>
              <a:ext cx="1119000" cy="587100"/>
            </a:xfrm>
            <a:prstGeom prst="rect">
              <a:avLst/>
            </a:prstGeom>
            <a:solidFill>
              <a:srgbClr val="C27BA0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5"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56313" y="3462238"/>
              <a:ext cx="1119000" cy="587100"/>
            </a:xfrm>
            <a:prstGeom prst="rect">
              <a:avLst/>
            </a:prstGeom>
            <a:solidFill>
              <a:srgbClr val="C27BA0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5"/>
                <a:t>Neural Network</a:t>
              </a:r>
              <a:br>
                <a:rPr lang="en" sz="1055"/>
              </a:br>
              <a:r>
                <a:rPr lang="en" sz="1055"/>
                <a:t>Architecture Design</a:t>
              </a:r>
              <a:endParaRPr sz="1055"/>
            </a:p>
          </p:txBody>
        </p:sp>
      </p:grpSp>
      <p:cxnSp>
        <p:nvCxnSpPr>
          <p:cNvPr id="143" name="Google Shape;143;p15"/>
          <p:cNvCxnSpPr>
            <a:stCxn id="140" idx="3"/>
            <a:endCxn id="138" idx="2"/>
          </p:cNvCxnSpPr>
          <p:nvPr/>
        </p:nvCxnSpPr>
        <p:spPr>
          <a:xfrm>
            <a:off x="2201000" y="3691313"/>
            <a:ext cx="515100" cy="5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5"/>
          <p:cNvCxnSpPr>
            <a:stCxn id="145" idx="3"/>
            <a:endCxn id="138" idx="2"/>
          </p:cNvCxnSpPr>
          <p:nvPr/>
        </p:nvCxnSpPr>
        <p:spPr>
          <a:xfrm flipH="1" rot="10800000">
            <a:off x="2201000" y="4226263"/>
            <a:ext cx="515100" cy="46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5"/>
          <p:cNvSpPr txBox="1"/>
          <p:nvPr/>
        </p:nvSpPr>
        <p:spPr>
          <a:xfrm>
            <a:off x="727725" y="2916250"/>
            <a:ext cx="3195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0" u="sng">
                <a:solidFill>
                  <a:schemeClr val="dk2"/>
                </a:solidFill>
              </a:rPr>
              <a:t>Dataset Generation Workflow</a:t>
            </a:r>
            <a:endParaRPr b="1" sz="1490" u="sng">
              <a:solidFill>
                <a:schemeClr val="dk2"/>
              </a:solidFill>
            </a:endParaRPr>
          </a:p>
        </p:txBody>
      </p:sp>
      <p:grpSp>
        <p:nvGrpSpPr>
          <p:cNvPr id="147" name="Google Shape;147;p15"/>
          <p:cNvGrpSpPr/>
          <p:nvPr/>
        </p:nvGrpSpPr>
        <p:grpSpPr>
          <a:xfrm>
            <a:off x="918375" y="4397413"/>
            <a:ext cx="1282625" cy="673700"/>
            <a:chOff x="256313" y="3375638"/>
            <a:chExt cx="1282625" cy="673700"/>
          </a:xfrm>
        </p:grpSpPr>
        <p:sp>
          <p:nvSpPr>
            <p:cNvPr id="145" name="Google Shape;145;p15"/>
            <p:cNvSpPr/>
            <p:nvPr/>
          </p:nvSpPr>
          <p:spPr>
            <a:xfrm>
              <a:off x="419938" y="3375638"/>
              <a:ext cx="1119000" cy="587100"/>
            </a:xfrm>
            <a:prstGeom prst="rect">
              <a:avLst/>
            </a:prstGeom>
            <a:solidFill>
              <a:srgbClr val="6D9EEB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5"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45813" y="3420238"/>
              <a:ext cx="1119000" cy="587100"/>
            </a:xfrm>
            <a:prstGeom prst="rect">
              <a:avLst/>
            </a:prstGeom>
            <a:solidFill>
              <a:srgbClr val="6D9EEB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5"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256313" y="3462238"/>
              <a:ext cx="1119000" cy="587100"/>
            </a:xfrm>
            <a:prstGeom prst="rect">
              <a:avLst/>
            </a:prstGeom>
            <a:solidFill>
              <a:srgbClr val="6D9EEB"/>
            </a:solidFill>
            <a:ln cap="flat" cmpd="sng" w="7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925" lIns="68925" spcFirstLastPara="1" rIns="68925" wrap="square" tIns="68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5"/>
                <a:t>Hardware (C- and Logic) Synthesis</a:t>
              </a:r>
              <a:endParaRPr sz="1055"/>
            </a:p>
          </p:txBody>
        </p:sp>
      </p:grpSp>
      <p:cxnSp>
        <p:nvCxnSpPr>
          <p:cNvPr id="150" name="Google Shape;150;p15"/>
          <p:cNvCxnSpPr>
            <a:stCxn id="142" idx="2"/>
            <a:endCxn id="149" idx="0"/>
          </p:cNvCxnSpPr>
          <p:nvPr/>
        </p:nvCxnSpPr>
        <p:spPr>
          <a:xfrm>
            <a:off x="1477875" y="4071463"/>
            <a:ext cx="0" cy="4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5"/>
          <p:cNvSpPr txBox="1"/>
          <p:nvPr/>
        </p:nvSpPr>
        <p:spPr>
          <a:xfrm>
            <a:off x="2390763" y="3329197"/>
            <a:ext cx="1341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Repeat </a:t>
            </a:r>
            <a:r>
              <a:rPr b="1" i="1" lang="en" sz="1100">
                <a:solidFill>
                  <a:schemeClr val="dk2"/>
                </a:solidFill>
              </a:rPr>
              <a:t>N</a:t>
            </a:r>
            <a:r>
              <a:rPr b="1" lang="en" sz="1100">
                <a:solidFill>
                  <a:schemeClr val="dk2"/>
                </a:solidFill>
              </a:rPr>
              <a:t> times </a:t>
            </a:r>
            <a:br>
              <a:rPr b="1" lang="en" sz="1100">
                <a:solidFill>
                  <a:schemeClr val="dk2"/>
                </a:solidFill>
              </a:rPr>
            </a:br>
            <a:r>
              <a:rPr b="1" lang="en" sz="1100">
                <a:solidFill>
                  <a:schemeClr val="dk2"/>
                </a:solidFill>
              </a:rPr>
              <a:t>Until constraints met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