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ounded Rectangle"/>
          <p:cNvSpPr/>
          <p:nvPr/>
        </p:nvSpPr>
        <p:spPr>
          <a:xfrm>
            <a:off x="10502619" y="3704079"/>
            <a:ext cx="4138203" cy="6164251"/>
          </a:xfrm>
          <a:prstGeom prst="roundRect">
            <a:avLst>
              <a:gd name="adj" fmla="val 16911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2" name="Inputs"/>
          <p:cNvSpPr txBox="1"/>
          <p:nvPr/>
        </p:nvSpPr>
        <p:spPr>
          <a:xfrm>
            <a:off x="1244141" y="6089089"/>
            <a:ext cx="1325779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200"/>
            </a:lvl1pPr>
          </a:lstStyle>
          <a:p>
            <a:pPr/>
            <a:r>
              <a:t>Inputs</a:t>
            </a:r>
          </a:p>
        </p:txBody>
      </p:sp>
      <p:sp>
        <p:nvSpPr>
          <p:cNvPr id="173" name="Line"/>
          <p:cNvSpPr/>
          <p:nvPr/>
        </p:nvSpPr>
        <p:spPr>
          <a:xfrm>
            <a:off x="2787970" y="6381645"/>
            <a:ext cx="618517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4" name="Input…"/>
          <p:cNvSpPr txBox="1"/>
          <p:nvPr/>
        </p:nvSpPr>
        <p:spPr>
          <a:xfrm>
            <a:off x="3624537" y="5835261"/>
            <a:ext cx="2267001" cy="1080412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Input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Embedding</a:t>
            </a:r>
          </a:p>
        </p:txBody>
      </p:sp>
      <p:sp>
        <p:nvSpPr>
          <p:cNvPr id="175" name="Positional…"/>
          <p:cNvSpPr txBox="1"/>
          <p:nvPr/>
        </p:nvSpPr>
        <p:spPr>
          <a:xfrm>
            <a:off x="6398390" y="4063920"/>
            <a:ext cx="1966672" cy="1080412"/>
          </a:xfrm>
          <a:prstGeom prst="rect">
            <a:avLst/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Positional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Encoding</a:t>
            </a:r>
          </a:p>
        </p:txBody>
      </p:sp>
      <p:sp>
        <p:nvSpPr>
          <p:cNvPr id="176" name="Oval"/>
          <p:cNvSpPr/>
          <p:nvPr/>
        </p:nvSpPr>
        <p:spPr>
          <a:xfrm>
            <a:off x="6895403" y="5912572"/>
            <a:ext cx="1021675" cy="1041503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7" name="+"/>
          <p:cNvSpPr txBox="1"/>
          <p:nvPr/>
        </p:nvSpPr>
        <p:spPr>
          <a:xfrm>
            <a:off x="7196690" y="6021883"/>
            <a:ext cx="419101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4000"/>
            </a:lvl1pPr>
          </a:lstStyle>
          <a:p>
            <a:pPr/>
            <a:r>
              <a:t>+</a:t>
            </a:r>
          </a:p>
        </p:txBody>
      </p:sp>
      <p:sp>
        <p:nvSpPr>
          <p:cNvPr id="178" name="Line"/>
          <p:cNvSpPr/>
          <p:nvPr/>
        </p:nvSpPr>
        <p:spPr>
          <a:xfrm flipV="1">
            <a:off x="7406240" y="5178363"/>
            <a:ext cx="1" cy="73090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9" name="Encoder Blocks"/>
          <p:cNvSpPr txBox="1"/>
          <p:nvPr/>
        </p:nvSpPr>
        <p:spPr>
          <a:xfrm>
            <a:off x="10983255" y="2940714"/>
            <a:ext cx="3176931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200"/>
            </a:lvl1pPr>
          </a:lstStyle>
          <a:p>
            <a:pPr/>
            <a:r>
              <a:t>Encoder Blocks</a:t>
            </a:r>
          </a:p>
        </p:txBody>
      </p:sp>
      <p:sp>
        <p:nvSpPr>
          <p:cNvPr id="180" name="Equation"/>
          <p:cNvSpPr txBox="1"/>
          <p:nvPr/>
        </p:nvSpPr>
        <p:spPr>
          <a:xfrm>
            <a:off x="11931225" y="10375282"/>
            <a:ext cx="1280991" cy="36858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4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</m:oMath>
              </m:oMathPara>
            </a14:m>
            <a:endParaRPr sz="4200"/>
          </a:p>
        </p:txBody>
      </p:sp>
      <p:sp>
        <p:nvSpPr>
          <p:cNvPr id="181" name="Equation"/>
          <p:cNvSpPr txBox="1"/>
          <p:nvPr/>
        </p:nvSpPr>
        <p:spPr>
          <a:xfrm>
            <a:off x="1246867" y="6834695"/>
            <a:ext cx="1365302" cy="34666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3200"/>
          </a:p>
        </p:txBody>
      </p:sp>
      <p:sp>
        <p:nvSpPr>
          <p:cNvPr id="182" name="Equation"/>
          <p:cNvSpPr txBox="1"/>
          <p:nvPr/>
        </p:nvSpPr>
        <p:spPr>
          <a:xfrm>
            <a:off x="4034938" y="7149891"/>
            <a:ext cx="1446198" cy="28529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→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512</m:t>
                  </m:r>
                </m:oMath>
              </m:oMathPara>
            </a14:m>
            <a:endParaRPr sz="3200"/>
          </a:p>
        </p:txBody>
      </p:sp>
      <p:sp>
        <p:nvSpPr>
          <p:cNvPr id="183" name="Prepend…"/>
          <p:cNvSpPr txBox="1"/>
          <p:nvPr/>
        </p:nvSpPr>
        <p:spPr>
          <a:xfrm>
            <a:off x="7699548" y="7202758"/>
            <a:ext cx="2311706" cy="10804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Prepend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[CLS] token</a:t>
            </a:r>
          </a:p>
        </p:txBody>
      </p:sp>
      <p:sp>
        <p:nvSpPr>
          <p:cNvPr id="184" name="[CLS] token…"/>
          <p:cNvSpPr txBox="1"/>
          <p:nvPr/>
        </p:nvSpPr>
        <p:spPr>
          <a:xfrm>
            <a:off x="15791026" y="5762406"/>
            <a:ext cx="2311706" cy="10804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[CLS] token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output</a:t>
            </a:r>
          </a:p>
        </p:txBody>
      </p:sp>
      <p:sp>
        <p:nvSpPr>
          <p:cNvPr id="185" name="Line"/>
          <p:cNvSpPr/>
          <p:nvPr/>
        </p:nvSpPr>
        <p:spPr>
          <a:xfrm>
            <a:off x="6071512" y="6433323"/>
            <a:ext cx="618517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6" name="Equation"/>
          <p:cNvSpPr txBox="1"/>
          <p:nvPr/>
        </p:nvSpPr>
        <p:spPr>
          <a:xfrm>
            <a:off x="16351299" y="7109157"/>
            <a:ext cx="1281380" cy="35153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512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3200"/>
          </a:p>
        </p:txBody>
      </p:sp>
      <p:sp>
        <p:nvSpPr>
          <p:cNvPr id="187" name="Line"/>
          <p:cNvSpPr/>
          <p:nvPr/>
        </p:nvSpPr>
        <p:spPr>
          <a:xfrm>
            <a:off x="18340516" y="6257133"/>
            <a:ext cx="618517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8" name="Linear…"/>
          <p:cNvSpPr txBox="1"/>
          <p:nvPr/>
        </p:nvSpPr>
        <p:spPr>
          <a:xfrm>
            <a:off x="19251903" y="5792153"/>
            <a:ext cx="1273760" cy="108041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Linear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Layer</a:t>
            </a:r>
          </a:p>
        </p:txBody>
      </p:sp>
      <p:sp>
        <p:nvSpPr>
          <p:cNvPr id="189" name="Output"/>
          <p:cNvSpPr txBox="1"/>
          <p:nvPr/>
        </p:nvSpPr>
        <p:spPr>
          <a:xfrm>
            <a:off x="21692973" y="5918188"/>
            <a:ext cx="1446887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20000"/>
              </a:lnSpc>
              <a:defRPr b="1" sz="3200"/>
            </a:lvl1pPr>
          </a:lstStyle>
          <a:p>
            <a:pPr/>
            <a:r>
              <a:t>Output</a:t>
            </a:r>
          </a:p>
        </p:txBody>
      </p:sp>
      <p:sp>
        <p:nvSpPr>
          <p:cNvPr id="190" name="Line"/>
          <p:cNvSpPr/>
          <p:nvPr/>
        </p:nvSpPr>
        <p:spPr>
          <a:xfrm>
            <a:off x="20818535" y="6257133"/>
            <a:ext cx="618517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1" name="Equation"/>
          <p:cNvSpPr txBox="1"/>
          <p:nvPr/>
        </p:nvSpPr>
        <p:spPr>
          <a:xfrm>
            <a:off x="21978926" y="6611249"/>
            <a:ext cx="874980" cy="3499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6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3200"/>
          </a:p>
        </p:txBody>
      </p:sp>
      <p:sp>
        <p:nvSpPr>
          <p:cNvPr id="192" name="Line"/>
          <p:cNvSpPr/>
          <p:nvPr/>
        </p:nvSpPr>
        <p:spPr>
          <a:xfrm flipV="1">
            <a:off x="8879916" y="6426817"/>
            <a:ext cx="1" cy="73090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3" name="Rounded Rectangle"/>
          <p:cNvSpPr/>
          <p:nvPr/>
        </p:nvSpPr>
        <p:spPr>
          <a:xfrm>
            <a:off x="10279070" y="3900179"/>
            <a:ext cx="4138202" cy="6164251"/>
          </a:xfrm>
          <a:prstGeom prst="roundRect">
            <a:avLst>
              <a:gd name="adj" fmla="val 16911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4" name="Line"/>
          <p:cNvSpPr/>
          <p:nvPr/>
        </p:nvSpPr>
        <p:spPr>
          <a:xfrm flipV="1">
            <a:off x="12611715" y="8279464"/>
            <a:ext cx="1" cy="688522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5" name="Line"/>
          <p:cNvSpPr/>
          <p:nvPr/>
        </p:nvSpPr>
        <p:spPr>
          <a:xfrm>
            <a:off x="13911016" y="9276271"/>
            <a:ext cx="1072475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6" name="Line"/>
          <p:cNvSpPr/>
          <p:nvPr/>
        </p:nvSpPr>
        <p:spPr>
          <a:xfrm flipV="1">
            <a:off x="14960351" y="6355319"/>
            <a:ext cx="1" cy="2936979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7" name="Line"/>
          <p:cNvSpPr/>
          <p:nvPr/>
        </p:nvSpPr>
        <p:spPr>
          <a:xfrm>
            <a:off x="14971914" y="6381645"/>
            <a:ext cx="572088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8" name="Equation"/>
          <p:cNvSpPr txBox="1"/>
          <p:nvPr/>
        </p:nvSpPr>
        <p:spPr>
          <a:xfrm>
            <a:off x="7649130" y="8613500"/>
            <a:ext cx="2412542" cy="35153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512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3200"/>
          </a:p>
        </p:txBody>
      </p:sp>
      <p:sp>
        <p:nvSpPr>
          <p:cNvPr id="199" name="8-head…"/>
          <p:cNvSpPr txBox="1"/>
          <p:nvPr/>
        </p:nvSpPr>
        <p:spPr>
          <a:xfrm>
            <a:off x="11263635" y="4328221"/>
            <a:ext cx="2696161" cy="1080413"/>
          </a:xfrm>
          <a:prstGeom prst="rect">
            <a:avLst/>
          </a:prstGeom>
          <a:solidFill>
            <a:srgbClr val="ED220D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8-head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Self-Attention</a:t>
            </a:r>
          </a:p>
        </p:txBody>
      </p:sp>
      <p:sp>
        <p:nvSpPr>
          <p:cNvPr id="200" name="Add &amp; Norm"/>
          <p:cNvSpPr txBox="1"/>
          <p:nvPr/>
        </p:nvSpPr>
        <p:spPr>
          <a:xfrm>
            <a:off x="11410549" y="6039803"/>
            <a:ext cx="2402333" cy="585113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Add &amp; Norm</a:t>
            </a:r>
          </a:p>
        </p:txBody>
      </p:sp>
      <p:sp>
        <p:nvSpPr>
          <p:cNvPr id="201" name="Feed Forward"/>
          <p:cNvSpPr txBox="1"/>
          <p:nvPr/>
        </p:nvSpPr>
        <p:spPr>
          <a:xfrm>
            <a:off x="11251850" y="7693236"/>
            <a:ext cx="2719731" cy="58511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Feed Forward</a:t>
            </a:r>
          </a:p>
        </p:txBody>
      </p:sp>
      <p:sp>
        <p:nvSpPr>
          <p:cNvPr id="202" name="Add &amp; Norm"/>
          <p:cNvSpPr txBox="1"/>
          <p:nvPr/>
        </p:nvSpPr>
        <p:spPr>
          <a:xfrm>
            <a:off x="11410549" y="8969100"/>
            <a:ext cx="2402333" cy="585113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Add &amp; Norm</a:t>
            </a:r>
          </a:p>
        </p:txBody>
      </p:sp>
      <p:sp>
        <p:nvSpPr>
          <p:cNvPr id="203" name="Line"/>
          <p:cNvSpPr/>
          <p:nvPr/>
        </p:nvSpPr>
        <p:spPr>
          <a:xfrm flipV="1">
            <a:off x="10706832" y="4844544"/>
            <a:ext cx="1" cy="1577380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4" name="Line"/>
          <p:cNvSpPr/>
          <p:nvPr/>
        </p:nvSpPr>
        <p:spPr>
          <a:xfrm>
            <a:off x="10690342" y="4868427"/>
            <a:ext cx="557311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5" name="Line"/>
          <p:cNvSpPr/>
          <p:nvPr/>
        </p:nvSpPr>
        <p:spPr>
          <a:xfrm>
            <a:off x="8090165" y="6412129"/>
            <a:ext cx="3172697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6" name="Line"/>
          <p:cNvSpPr/>
          <p:nvPr/>
        </p:nvSpPr>
        <p:spPr>
          <a:xfrm flipV="1">
            <a:off x="12611715" y="5404415"/>
            <a:ext cx="1" cy="637722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7" name="Line"/>
          <p:cNvSpPr/>
          <p:nvPr/>
        </p:nvSpPr>
        <p:spPr>
          <a:xfrm>
            <a:off x="12611715" y="6684024"/>
            <a:ext cx="1" cy="947556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8" name="Line"/>
          <p:cNvSpPr/>
          <p:nvPr/>
        </p:nvSpPr>
        <p:spPr>
          <a:xfrm>
            <a:off x="10692898" y="7014407"/>
            <a:ext cx="193151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9" name="Line"/>
          <p:cNvSpPr/>
          <p:nvPr/>
        </p:nvSpPr>
        <p:spPr>
          <a:xfrm flipV="1">
            <a:off x="10710901" y="6998429"/>
            <a:ext cx="1" cy="2281169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0" name="Line"/>
          <p:cNvSpPr/>
          <p:nvPr/>
        </p:nvSpPr>
        <p:spPr>
          <a:xfrm>
            <a:off x="10690774" y="9276271"/>
            <a:ext cx="572088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